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media/image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55eae0b743fa4307" Type="http://schemas.openxmlformats.org/package/2006/relationships/metadata/core-properties" Target="docProps/core.xml"/><Relationship Id="R9b8a00a95ba0484f" Type="http://schemas.openxmlformats.org/officeDocument/2006/relationships/officeDocument" Target="ppt/presentation.xml"/><Relationship Id="Rfa16eb572d474be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d2029451a304712"/>
  </p:sldMasterIdLst>
  <p:notesMasterIdLst>
    <p:notesMasterId xmlns:r="http://schemas.openxmlformats.org/officeDocument/2006/relationships" r:id="R777d1b758d6c453b"/>
  </p:notesMasterIdLst>
  <p:sldIdLst>
    <p:sldId xmlns:r="http://schemas.openxmlformats.org/officeDocument/2006/relationships" id="256" r:id="Ra2255fc95e1c4032"/>
    <p:sldId xmlns:r="http://schemas.openxmlformats.org/officeDocument/2006/relationships" id="258" r:id="R478ed630385b436f"/>
    <p:sldId xmlns:r="http://schemas.openxmlformats.org/officeDocument/2006/relationships" id="259" r:id="Raa06fbce4c0e4087"/>
    <p:sldId xmlns:r="http://schemas.openxmlformats.org/officeDocument/2006/relationships" id="260" r:id="R4147059ab8bb49e8"/>
    <p:sldId xmlns:r="http://schemas.openxmlformats.org/officeDocument/2006/relationships" id="261" r:id="Rc34fe3ec886a4959"/>
    <p:sldId xmlns:r="http://schemas.openxmlformats.org/officeDocument/2006/relationships" id="262" r:id="R94515ec208624e6a"/>
    <p:sldId xmlns:r="http://schemas.openxmlformats.org/officeDocument/2006/relationships" id="263" r:id="R4c6e5f27766b4494"/>
    <p:sldId xmlns:r="http://schemas.openxmlformats.org/officeDocument/2006/relationships" id="264" r:id="R76f63c897dab4a1e"/>
    <p:sldId xmlns:r="http://schemas.openxmlformats.org/officeDocument/2006/relationships" id="265" r:id="R00e602919d974afd"/>
    <p:sldId xmlns:ns0="http://schemas.openxmlformats.org/officeDocument/2006/relationships" id="266" ns0:id="rId20"/>
  </p:sldIdLst>
  <p:sldSz cx="12191695" cy="6858000"/>
  <p:notesSz cx="6858000" cy="9144000"/>
  <p:embeddedFontLst>
    <p:embeddedFont>
      <p:font typeface="Inter Bold"/>
      <p:regular xmlns:r="http://schemas.openxmlformats.org/officeDocument/2006/relationships" r:id="Rc5804097fa154e8e"/>
    </p:embeddedFont>
    <p:embeddedFont>
      <p:font typeface="Inter"/>
      <p:regular xmlns:r="http://schemas.openxmlformats.org/officeDocument/2006/relationships" r:id="Rc86376dd99644f52"/>
    </p:embeddedFont>
    <p:embeddedFont>
      <p:font typeface="Inter Black"/>
      <p:regular xmlns:r="http://schemas.openxmlformats.org/officeDocument/2006/relationships" r:id="R798db86a416d485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0e602919d974afd" Type="http://schemas.openxmlformats.org/officeDocument/2006/relationships/slide" Target="slides/slide10.xml"/><Relationship Id="R1c2116232ea840f3" Type="http://schemas.openxmlformats.org/officeDocument/2006/relationships/tableStyles" Target="tableStyles.xml"/><Relationship Id="R4147059ab8bb49e8" Type="http://schemas.openxmlformats.org/officeDocument/2006/relationships/slide" Target="slides/slide5.xml"/><Relationship Id="R478ed630385b436f" Type="http://schemas.openxmlformats.org/officeDocument/2006/relationships/slide" Target="slides/slide3.xml"/><Relationship Id="R49b69436f2334c47" Type="http://schemas.openxmlformats.org/officeDocument/2006/relationships/theme" Target="theme/theme1.xml"/><Relationship Id="R4c6e5f27766b4494" Type="http://schemas.openxmlformats.org/officeDocument/2006/relationships/slide" Target="slides/slide8.xml"/><Relationship Id="R4d2029451a304712" Type="http://schemas.openxmlformats.org/officeDocument/2006/relationships/slideMaster" Target="slideMasters/slideMaster1.xml"/><Relationship Id="R76f63c897dab4a1e" Type="http://schemas.openxmlformats.org/officeDocument/2006/relationships/slide" Target="slides/slide9.xml"/><Relationship Id="R777d1b758d6c453b" Type="http://schemas.openxmlformats.org/officeDocument/2006/relationships/notesMaster" Target="notesMasters/notesMaster1.xml"/><Relationship Id="R798db86a416d4850" Type="http://schemas.openxmlformats.org/officeDocument/2006/relationships/font" Target="fonts/font3.dat"/><Relationship Id="R94515ec208624e6a" Type="http://schemas.openxmlformats.org/officeDocument/2006/relationships/slide" Target="slides/slide7.xml"/><Relationship Id="Ra2255fc95e1c4032" Type="http://schemas.openxmlformats.org/officeDocument/2006/relationships/slide" Target="slides/slide1.xml"/><Relationship Id="Raa06fbce4c0e4087" Type="http://schemas.openxmlformats.org/officeDocument/2006/relationships/slide" Target="slides/slide4.xml"/><Relationship Id="Rb78f4a42b0894d24" Type="http://schemas.openxmlformats.org/officeDocument/2006/relationships/viewProps" Target="viewProps.xml"/><Relationship Id="Rc34fe3ec886a4959" Type="http://schemas.openxmlformats.org/officeDocument/2006/relationships/slide" Target="slides/slide6.xml"/><Relationship Id="Rc5804097fa154e8e" Type="http://schemas.openxmlformats.org/officeDocument/2006/relationships/font" Target="fonts/font.dat"/><Relationship Id="Rc86376dd99644f52" Type="http://schemas.openxmlformats.org/officeDocument/2006/relationships/font" Target="fonts/font2.dat"/><Relationship Id="Re5fd6718490c4324" Type="http://schemas.openxmlformats.org/officeDocument/2006/relationships/presProps" Target="presProps.xml"/><Relationship Id="rId2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bd30090d46c946e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76bef2a6a6d4072" Type="http://schemas.openxmlformats.org/officeDocument/2006/relationships/slide" Target="../slides/slide1.xml"/><Relationship Id="Rfab1120c1dad4c2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e345e3841a3432d" Type="http://schemas.openxmlformats.org/officeDocument/2006/relationships/notesMaster" Target="../notesMasters/notesMaster1.xml"/><Relationship Id="R5212ca22358a416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f37967e9c1949b6" Type="http://schemas.openxmlformats.org/officeDocument/2006/relationships/notesMaster" Target="../notesMasters/notesMaster1.xml"/><Relationship Id="R726e441d98e74cc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e9cb0d0679e4ee2" Type="http://schemas.openxmlformats.org/officeDocument/2006/relationships/notesMaster" Target="../notesMasters/notesMaster1.xml"/><Relationship Id="R711aea97ee62486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3c7bbec23d543ba" Type="http://schemas.openxmlformats.org/officeDocument/2006/relationships/notesMaster" Target="../notesMasters/notesMaster1.xml"/><Relationship Id="R53b35938f47749ab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21c9c92439f48e2" Type="http://schemas.openxmlformats.org/officeDocument/2006/relationships/notesMaster" Target="../notesMasters/notesMaster1.xml"/><Relationship Id="R9d1475e9fcd144f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8dd1a95566fe4095" Type="http://schemas.openxmlformats.org/officeDocument/2006/relationships/slide" Target="../slides/slide8.xml"/><Relationship Id="Rdf7a887f5ba348f7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c11e21ae51094073" Type="http://schemas.openxmlformats.org/officeDocument/2006/relationships/slide" Target="../slides/slide9.xml"/><Relationship Id="Re61bf02b68644e0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01b7ac16e2d45cd" Type="http://schemas.openxmlformats.org/officeDocument/2006/relationships/slide" Target="../slides/slide10.xml"/><Relationship Id="R05086cb30fd84a7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c84bfe6dd8b415a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76e32d52856c426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D40F3B-01BF-45C0-9EF0-228DFD94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F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79912E-AAC2-4ADF-8E40-7FE1B0AB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64df087bc3f742d2" Type="http://schemas.openxmlformats.org/officeDocument/2006/relationships/theme" Target="theme/theme2.xml"/><Relationship Id="R72a263c1ba134fe7" Type="http://schemas.openxmlformats.org/officeDocument/2006/relationships/slideLayout" Target="../slideLayouts/slideLayout1.xml"/><Relationship Id="Rb306936e15744f49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a263c1ba134fe7"/>
    <p:sldLayoutId xmlns:r="http://schemas.openxmlformats.org/officeDocument/2006/relationships" id="2147483650" r:id="Rb306936e15744f4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6a8592af644458b" Type="http://schemas.openxmlformats.org/officeDocument/2006/relationships/notesSlide" Target="../notesSlides/notesSlide1.xml"/><Relationship Id="R690c754f87294dd2" Type="http://schemas.openxmlformats.org/officeDocument/2006/relationships/slideLayout" Target="../slideLayouts/slideLayout2.xml"/><Relationship Id="R711801fd0b2e4a4f" Type="http://schemas.openxmlformats.org/officeDocument/2006/relationships/image" Target="../media/image4.png"/><Relationship Id="R9dfa3c3619f24162" Type="http://schemas.openxmlformats.org/officeDocument/2006/relationships/image" Target="../media/image3.png"/><Relationship Id="Rd2cd715baa0a4742" Type="http://schemas.openxmlformats.org/officeDocument/2006/relationships/image" Target="../media/image.png"/><Relationship Id="Re691b98f936a4c2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0e005cc7e9a84516" Type="http://schemas.openxmlformats.org/officeDocument/2006/relationships/slideLayout" Target="../slideLayouts/slideLayout2.xml"/><Relationship Id="Rf7c8c61ead9c41a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760f2ed59954825" Type="http://schemas.openxmlformats.org/officeDocument/2006/relationships/image" Target="../media/image4.png"/><Relationship Id="R197100946c714499" Type="http://schemas.openxmlformats.org/officeDocument/2006/relationships/image" Target="../media/image4.svg"/><Relationship Id="R1ea178afe4044646" Type="http://schemas.openxmlformats.org/officeDocument/2006/relationships/image" Target="../media/image.jpeg"/><Relationship Id="R27e2c87e7a154358" Type="http://schemas.openxmlformats.org/officeDocument/2006/relationships/image" Target="../media/image3.svg"/><Relationship Id="R55e9c7dd2e854895" Type="http://schemas.openxmlformats.org/officeDocument/2006/relationships/image" Target="../media/image2.png"/><Relationship Id="R963fca5a042541fb" Type="http://schemas.openxmlformats.org/officeDocument/2006/relationships/image" Target="../media/image3.png"/><Relationship Id="Rab2dd896e7d540b8" Type="http://schemas.openxmlformats.org/officeDocument/2006/relationships/image" Target="../media/image5.png"/><Relationship Id="Rc0a4f224049a4d62" Type="http://schemas.openxmlformats.org/officeDocument/2006/relationships/image" Target="../media/image5.svg"/><Relationship Id="Rc9952e1f32ee43b4" Type="http://schemas.openxmlformats.org/officeDocument/2006/relationships/image" Target="../media/image.svg"/><Relationship Id="Rda6cf36bfe6146c3" Type="http://schemas.openxmlformats.org/officeDocument/2006/relationships/image" Target="../media/image2.svg"/><Relationship Id="Re268d65e74bc4c95" Type="http://schemas.openxmlformats.org/officeDocument/2006/relationships/slideLayout" Target="../slideLayouts/slideLayout2.xml"/><Relationship Id="Ref2e56974849491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4e183361128409a" Type="http://schemas.openxmlformats.org/officeDocument/2006/relationships/image" Target="../media/image8.png"/><Relationship Id="R8a0849a6581c467c" Type="http://schemas.openxmlformats.org/officeDocument/2006/relationships/slideLayout" Target="../slideLayouts/slideLayout2.xml"/><Relationship Id="Ra9bbff8bdc73406b" Type="http://schemas.openxmlformats.org/officeDocument/2006/relationships/image" Target="../media/image6.png"/><Relationship Id="Rafbe4e81ec31484d" Type="http://schemas.openxmlformats.org/officeDocument/2006/relationships/notesSlide" Target="../notesSlides/notesSlide5.xml"/><Relationship Id="Rbf8a8c0eaa8a459e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105027bd9ce649f5" Type="http://schemas.openxmlformats.org/officeDocument/2006/relationships/notesSlide" Target="../notesSlides/notesSlide6.xml"/><Relationship Id="R9be5a71c467d4b55" Type="http://schemas.openxmlformats.org/officeDocument/2006/relationships/image" Target="../media/image.jpeg"/><Relationship Id="Re656b7e848d148db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14aaede309074d72" Type="http://schemas.openxmlformats.org/officeDocument/2006/relationships/image" Target="../media/image10.png"/><Relationship Id="R26da606774084c5c" Type="http://schemas.openxmlformats.org/officeDocument/2006/relationships/image" Target="../media/image13.png"/><Relationship Id="R89a578c0455f4d5e" Type="http://schemas.openxmlformats.org/officeDocument/2006/relationships/image" Target="../media/image9.png"/><Relationship Id="Ra31049f80f394701" Type="http://schemas.openxmlformats.org/officeDocument/2006/relationships/notesSlide" Target="../notesSlides/notesSlide7.xml"/><Relationship Id="Rc1af47c20d1b40f4" Type="http://schemas.openxmlformats.org/officeDocument/2006/relationships/image" Target="../media/image14.png"/><Relationship Id="Rcd06f855d8274a4a" Type="http://schemas.openxmlformats.org/officeDocument/2006/relationships/slideLayout" Target="../slideLayouts/slideLayout2.xml"/><Relationship Id="Rf7ad3462ea0c45a4" Type="http://schemas.openxmlformats.org/officeDocument/2006/relationships/image" Target="../media/image11.png"/><Relationship Id="Rf905949268a444e8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3b6d9f847f234934" Type="http://schemas.openxmlformats.org/officeDocument/2006/relationships/image" Target="../media/image15.png"/><Relationship Id="R7049070ed71e43bb" Type="http://schemas.openxmlformats.org/officeDocument/2006/relationships/slideLayout" Target="../slideLayouts/slideLayout2.xml"/><Relationship Id="R7bb49f31e2324cc2" Type="http://schemas.openxmlformats.org/officeDocument/2006/relationships/notesSlide" Target="../notesSlides/notesSlide8.xml"/><Relationship Id="R98f73e86fbd04050" Type="http://schemas.openxmlformats.org/officeDocument/2006/relationships/image" Target="../media/image6.svg"/><Relationship Id="Rfd6fa513ebe04e89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2bd7d8ffd4b64b6b" Type="http://schemas.openxmlformats.org/officeDocument/2006/relationships/slideLayout" Target="../slideLayouts/slideLayout2.xml"/><Relationship Id="R3da8a9141b41451e" Type="http://schemas.openxmlformats.org/officeDocument/2006/relationships/image" Target="../media/image7.svg"/><Relationship Id="R533441514044484b" Type="http://schemas.openxmlformats.org/officeDocument/2006/relationships/image" Target="../media/image8.svg"/><Relationship Id="R740be5585fab4e9b" Type="http://schemas.openxmlformats.org/officeDocument/2006/relationships/image" Target="../media/image7.png"/><Relationship Id="R8194ec60942d4cb2" Type="http://schemas.openxmlformats.org/officeDocument/2006/relationships/image" Target="../media/image8.png"/><Relationship Id="Rbbce9eda5a82496c" Type="http://schemas.openxmlformats.org/officeDocument/2006/relationships/image" Target="../media/image10.svg"/><Relationship Id="Rbd5b649f68c646a8" Type="http://schemas.openxmlformats.org/officeDocument/2006/relationships/notesSlide" Target="../notesSlides/notesSlide9.xml"/><Relationship Id="Rc2327d6103674f65" Type="http://schemas.openxmlformats.org/officeDocument/2006/relationships/image" Target="../media/image10.png"/><Relationship Id="Rc6580cb7d8c045a3" Type="http://schemas.openxmlformats.org/officeDocument/2006/relationships/image" Target="../media/image9.png"/><Relationship Id="Rcc4fad7b1e8f4ac2" Type="http://schemas.openxmlformats.org/officeDocument/2006/relationships/image" Target="../media/image9.svg"/></Relationships>
</file>

<file path=ppt/slides/_rels/slide10.xml.rels><?xml version='1.0' encoding='UTF-8' standalone='yes'?>
<Relationships xmlns="http://schemas.openxmlformats.org/package/2006/relationships"><Relationship Id="Re097551b6e6d46fd" Type="http://schemas.openxmlformats.org/officeDocument/2006/relationships/slideLayout" Target="../slideLayouts/slideLayout2.xml"/><Relationship Id="Rea94bcb1e9264c1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443597-16F7-4B90-BD94-92BB6EC6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23280"/>
            <a:ext cx="10868745" cy="472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950" b="1" spc="-89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AGENTIC AI PROCUREMENT AGENT</a:t>
            </a:r>
            <a:endParaRPr sz="2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6D1CD4-40CE-44A0-811B-38600ECC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044079"/>
            <a:ext cx="10868745" cy="378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50" b="1" spc="-7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ON BECKN PROTOCOL</a:t>
            </a:r>
            <a:endParaRPr sz="23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197DA4-8342-4F0E-829F-B042D269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603474"/>
            <a:ext cx="11478330" cy="2176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150" i="1" spc="-24">
                <a:solidFill>
                  <a:srgbClr val="272525"/>
                </a:solidFill>
                <a:latin typeface="Inter"/>
                <a:ea typeface="Inter"/>
                <a:cs typeface="Inter"/>
              </a:rPr>
              <a:t>Autonomous enterprise procurement over an open commerce network</a:t>
            </a:r>
            <a:endParaRPr sz="11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BC5FCE-8DE5-4E40-9A53-FCED4BF8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994991"/>
            <a:ext cx="10868745" cy="1905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272525">
              <a:alpha val="50000"/>
            </a:srgbClr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A7A124A-1EF7-46AA-80DD-382A10E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35" y="2187873"/>
            <a:ext cx="5467610" cy="1784251"/>
          </a:xfrm>
          <a:prstGeom xmlns:a="http://schemas.openxmlformats.org/drawingml/2006/main" prst="roundRect">
            <a:avLst>
              <a:gd name="adj" fmla="val 6102"/>
            </a:avLst>
          </a:prstGeom>
          <a:solidFill xmlns:a="http://schemas.openxmlformats.org/drawingml/2006/main">
            <a:srgbClr val="4950B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C04D930-4006-415D-9333-B03BBD65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40" y="2308820"/>
            <a:ext cx="5165199" cy="23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450" b="1" spc="-45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Project Details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8D697F-0D65-4325-AC2C-FA9A85D8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40" y="2666008"/>
            <a:ext cx="5165199" cy="870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sz="1150" b="1" spc="-24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Project:</a:t>
            </a:r>
            <a:r>
              <a:rPr sz="1150" spc="-24">
                <a:solidFill>
                  <a:srgbClr val="FFFFFF"/>
                </a:solidFill>
                <a:latin typeface="Inter"/>
                <a:ea typeface="Inter"/>
                <a:cs typeface="Inter"/>
              </a:rPr>
              <a:t> Agentic AI Procurement Agent on Beckn Protocol</a:t>
            </a:r>
            <a:endParaRPr sz="1150"/>
          </a:p>
          <a:p xmlns:a="http://schemas.openxmlformats.org/drawingml/2006/main"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sz="1150" b="1" spc="-24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Team:</a:t>
            </a:r>
            <a:r>
              <a:rPr sz="1150" spc="-24">
                <a:solidFill>
                  <a:srgbClr val="FFFFFF"/>
                </a:solidFill>
                <a:latin typeface="Inter"/>
                <a:ea typeface="Inter"/>
                <a:cs typeface="Inter"/>
              </a:rPr>
              <a:t> Team AI1</a:t>
            </a:r>
            <a:endParaRPr sz="1150"/>
          </a:p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150" b="1" spc="-24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Department:</a:t>
            </a:r>
            <a:r>
              <a:rPr sz="1150" spc="-24">
                <a:solidFill>
                  <a:srgbClr val="FFFFFF"/>
                </a:solidFill>
                <a:latin typeface="Inter"/>
                <a:ea typeface="Inter"/>
                <a:cs typeface="Inter"/>
              </a:rPr>
              <a:t> CSE</a:t>
            </a:r>
            <a:endParaRPr sz="11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74AA9D-A191-414E-8303-8D9DA060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40" y="2308820"/>
            <a:ext cx="5249930" cy="23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450" b="1" spc="-45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Team &amp; Faculty</a:t>
            </a:r>
            <a:endParaRPr sz="14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07203A-F05C-43CC-8058-F7CE4945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40" y="2666008"/>
            <a:ext cx="5249930" cy="11972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5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150" b="1">
                <a:solidFill>
                  <a:srgbClr val="272525"/>
                </a:solidFill>
                <a:latin typeface="Inter"/>
                <a:ea typeface="Inter"/>
                <a:cs typeface="Inter"/>
              </a:rPr>
              <a:t>Team Leader:</a:t>
            </a:r>
            <a:r>
              <a:rPr sz="1150">
                <a:solidFill>
                  <a:srgbClr val="272525"/>
                </a:solidFill>
                <a:latin typeface="Inter"/>
                <a:ea typeface="Inter"/>
                <a:cs typeface="Inter"/>
              </a:rPr>
              <a:t> Kavala Durga Eswar (A23126510147)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5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150" b="1">
                <a:solidFill>
                  <a:srgbClr val="272525"/>
                </a:solidFill>
                <a:latin typeface="Inter"/>
                <a:ea typeface="Inter"/>
                <a:cs typeface="Inter"/>
              </a:rPr>
              <a:t>Team Members:</a:t>
            </a:r>
            <a:r>
              <a:rPr sz="1150">
                <a:solidFill>
                  <a:srgbClr val="272525"/>
                </a:solidFill>
                <a:latin typeface="Inter"/>
                <a:ea typeface="Inter"/>
                <a:cs typeface="Inter"/>
              </a:rPr>
              <a:t> Kinthala Samuel Sampath Kumar (A23126510150)
Korukonda Jahnavi (A23126510214)
Kittali Krishna Vamsi (A23126510035)
Yindula Vaishnavi (A23126510248)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5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150" b="1">
                <a:solidFill>
                  <a:srgbClr val="272525"/>
                </a:solidFill>
                <a:latin typeface="Inter"/>
                <a:ea typeface="Inter"/>
                <a:cs typeface="Inter"/>
              </a:rPr>
              <a:t>Faculty Guide:</a:t>
            </a:r>
            <a:r>
              <a:rPr sz="1150">
                <a:solidFill>
                  <a:srgbClr val="272525"/>
                </a:solidFill>
                <a:latin typeface="Inter"/>
                <a:ea typeface="Inter"/>
                <a:cs typeface="Inter"/>
              </a:rPr>
              <a:t> Dr. Ch. Lakshmi Narayana</a:t>
            </a:r>
          </a:p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d715baa0a47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4108152"/>
            <a:ext cx="5434373" cy="604838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54F123E-70E3-434D-8036-1074A4EA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80" y="4833938"/>
            <a:ext cx="5131961" cy="23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450" b="1" spc="-4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USER REQUEST</a:t>
            </a:r>
            <a:endParaRPr sz="1450"/>
          </a:p>
        </p:txBody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1b98f936a4c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5848" y="4108152"/>
            <a:ext cx="5434373" cy="60483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4DBBB1C-FBC9-4D6B-A501-3FD67E3E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53" y="4833938"/>
            <a:ext cx="5131961" cy="23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450" b="1" spc="-4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AI AGENT</a:t>
            </a:r>
            <a:endParaRPr sz="1450"/>
          </a:p>
        </p:txBody>
      </p:sp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a3c3619f241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5221387"/>
            <a:ext cx="5434373" cy="604838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9C6BF49-386A-4E05-9B0B-293CC4E2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80" y="5947172"/>
            <a:ext cx="5131961" cy="23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450" b="1" spc="-4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BECKN NETWORK</a:t>
            </a:r>
            <a:endParaRPr sz="1450"/>
          </a:p>
        </p:txBody>
      </p:sp>
      <p:pic>
        <p:nvPicPr>
          <p:cNvPr id="3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801fd0b2e4a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5848" y="5221387"/>
            <a:ext cx="5434373" cy="604838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D8F64CBE-FFD5-47D9-830C-3B3982DE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53" y="5947172"/>
            <a:ext cx="5131961" cy="23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450" b="1" spc="-4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SUPPLIERS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7492844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38BE29-9DCF-4DD2-B8B7-9E984F87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664468"/>
            <a:ext cx="10868745" cy="4134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600" b="1" spc="-78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Enterprise Procurement is Fragmented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1EA3AE-D3BB-448C-B7F8-816B3A17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263154"/>
            <a:ext cx="11478330" cy="1799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000" spc="-21">
                <a:solidFill>
                  <a:srgbClr val="272525"/>
                </a:solidFill>
                <a:latin typeface="Inter"/>
                <a:ea typeface="Inter"/>
                <a:cs typeface="Inter"/>
              </a:rPr>
              <a:t>The problem is not simply finding a product. The problem is coordinating the entire procurement decision.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343E02-569C-497C-A94B-62E7623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547316"/>
            <a:ext cx="264610" cy="165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spc="-31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01</a:t>
            </a:r>
            <a:endParaRPr sz="1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AAF2330-80C3-46FE-BD5B-BF22840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752997"/>
            <a:ext cx="35611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27B852-E668-44C8-B443-945CE391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857177"/>
            <a:ext cx="3561170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REQUEST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BE891E-D352-42E3-ADED-C642F2A1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13" y="1547316"/>
            <a:ext cx="264610" cy="165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spc="-31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02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013BAF1-BCAC-4AB6-AAEF-3657A9E3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13" y="1752997"/>
            <a:ext cx="35611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ED5FF6-FBD4-4F36-BF4F-E42FED13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13" y="1857177"/>
            <a:ext cx="3561170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SEARCH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800D305-A187-4707-9DAD-5F71BEC7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51" y="1547316"/>
            <a:ext cx="264610" cy="165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spc="-31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03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A2B6711-7D0C-4638-B2B2-E5BCE2E0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51" y="1752997"/>
            <a:ext cx="35611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0186DE8-AE8B-46E4-ABA1-4D3D3691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51" y="1857177"/>
            <a:ext cx="3561170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COMPARE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D1C777-8B5D-4C63-866E-20D69607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255639"/>
            <a:ext cx="264610" cy="165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spc="-31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04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A3EC17-30B6-40E0-A84F-4AA6422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461320"/>
            <a:ext cx="35611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D81E94-800C-400E-873F-2CFDD1BD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565499"/>
            <a:ext cx="3561170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NEGOTIATE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80DA315-49AC-408C-9D3B-D40DC655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13" y="2255639"/>
            <a:ext cx="264610" cy="165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spc="-31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05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833E408-61CD-4889-B4AB-706EEA16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13" y="2461320"/>
            <a:ext cx="35611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E18D328-A415-429A-A31F-DC339A54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13" y="2565499"/>
            <a:ext cx="3561170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APPROVE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560F42C-CA6B-47E1-A222-31D7CD14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51" y="2255639"/>
            <a:ext cx="264610" cy="165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spc="-31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06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B5E1813-C38B-4343-89C5-7E4AACA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51" y="2461320"/>
            <a:ext cx="35611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50B6A92-7D82-4D85-A481-82BDB917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51" y="2565499"/>
            <a:ext cx="3561170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ORDER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D529413-D409-4DD3-A6DF-EC61D189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963962"/>
            <a:ext cx="264610" cy="1652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spc="-31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07</a:t>
            </a:r>
            <a:endParaRPr sz="10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BF57C13-CB6C-46FD-A249-DF887E8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169642"/>
            <a:ext cx="108686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CA791B1-B3A7-4901-9B1B-3F0FEE8A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273822"/>
            <a:ext cx="10868646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TRACK + AUDIT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D28A7BC-4E80-4987-88AA-C4C8059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718620"/>
            <a:ext cx="10868745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Pain Points</a:t>
            </a:r>
            <a:endParaRPr sz="13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4D28123-8FC5-4201-B2A2-BFFA1B51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064198"/>
            <a:ext cx="3561170" cy="483890"/>
          </a:xfrm>
          <a:prstGeom xmlns:a="http://schemas.openxmlformats.org/drawingml/2006/main" prst="roundRect">
            <a:avLst>
              <a:gd name="adj" fmla="val 11484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77F5FDD-15DC-4235-814D-063E8F4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" y="4202807"/>
            <a:ext cx="3283959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Manual quotation collection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87483AF-480E-4BE3-96A8-173D2AC9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13" y="4064198"/>
            <a:ext cx="3561170" cy="483890"/>
          </a:xfrm>
          <a:prstGeom xmlns:a="http://schemas.openxmlformats.org/drawingml/2006/main" prst="roundRect">
            <a:avLst>
              <a:gd name="adj" fmla="val 11484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464A39C-BDDF-4D69-99E4-70A5538B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18" y="4202807"/>
            <a:ext cx="3283959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Supplier-by-supplier search</a:t>
            </a:r>
            <a:endParaRPr sz="1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2C7A9F4-C9E1-4840-BFB2-76A70C9E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51" y="4064198"/>
            <a:ext cx="3561170" cy="483890"/>
          </a:xfrm>
          <a:prstGeom xmlns:a="http://schemas.openxmlformats.org/drawingml/2006/main" prst="roundRect">
            <a:avLst>
              <a:gd name="adj" fmla="val 11484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5333D9F-5E9A-4A17-830E-AA490473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557" y="4202807"/>
            <a:ext cx="3283959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Difficult comparison</a:t>
            </a:r>
            <a:endParaRPr sz="13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8B60A55-7EF5-4082-A0B7-91EF2756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640659"/>
            <a:ext cx="3561170" cy="483890"/>
          </a:xfrm>
          <a:prstGeom xmlns:a="http://schemas.openxmlformats.org/drawingml/2006/main" prst="roundRect">
            <a:avLst>
              <a:gd name="adj" fmla="val 11484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891CFE5-B287-43EC-B637-B53E1D5C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" y="4779268"/>
            <a:ext cx="3283959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Negotiation overhead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7188A5B-1CFC-492A-9BFD-C4FDF35F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13" y="4640659"/>
            <a:ext cx="3561170" cy="483890"/>
          </a:xfrm>
          <a:prstGeom xmlns:a="http://schemas.openxmlformats.org/drawingml/2006/main" prst="roundRect">
            <a:avLst>
              <a:gd name="adj" fmla="val 11484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DEA7181-FD87-45BB-B713-0B63739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18" y="4779268"/>
            <a:ext cx="3283959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Approval delays</a:t>
            </a:r>
            <a:endParaRPr sz="13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8044225-3A27-40F9-B50F-0189271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51" y="4640659"/>
            <a:ext cx="3561170" cy="483890"/>
          </a:xfrm>
          <a:prstGeom xmlns:a="http://schemas.openxmlformats.org/drawingml/2006/main" prst="roundRect">
            <a:avLst>
              <a:gd name="adj" fmla="val 11484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6812520-31DA-4D01-BC46-6B4C484D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557" y="4779268"/>
            <a:ext cx="3283959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Weak traceability</a:t>
            </a:r>
            <a:endParaRPr sz="13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4B01286-20CD-4E57-A5A5-DFA48011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217120"/>
            <a:ext cx="10868646" cy="483890"/>
          </a:xfrm>
          <a:prstGeom xmlns:a="http://schemas.openxmlformats.org/drawingml/2006/main" prst="roundRect">
            <a:avLst>
              <a:gd name="adj" fmla="val 11484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C058E39-BFDB-4D77-999B-F99CC83D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" y="5355729"/>
            <a:ext cx="10591436" cy="206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 spc="-3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Poor scalability</a:t>
            </a:r>
            <a:endParaRPr sz="13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CDC42D9-D22A-45B5-AA2A-6B47E86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07" y="5909370"/>
            <a:ext cx="11279897" cy="1799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000" spc="-21">
                <a:solidFill>
                  <a:srgbClr val="272525"/>
                </a:solidFill>
                <a:latin typeface="Inter"/>
                <a:ea typeface="Inter"/>
                <a:cs typeface="Inter"/>
              </a:rPr>
              <a:t>"Human-driven procurement cannot efficiently reason across an open supplier network."</a:t>
            </a:r>
            <a:endParaRPr sz="10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0B10076D-C2CB-4E6B-9081-732652C2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805190"/>
            <a:ext cx="19050" cy="388342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4950BC"/>
          </a:solidFill>
        </p:spPr>
      </p:sp>
    </p:spTree>
    <p:extLst>
      <p:ext uri="{BB962C8B-B14F-4D97-AF65-F5344CB8AC3E}">
        <p14:creationId xmlns:p14="http://schemas.microsoft.com/office/powerpoint/2010/main" val="14752875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ED48F2-2A79-494A-AB43-6CE4142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61578"/>
            <a:ext cx="10868745" cy="365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 spc="-69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Our Solution: An AI Purchasing Employee</a:t>
            </a:r>
            <a:endParaRPr sz="23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AE9ADB-664F-43A2-AB35-09101617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072555"/>
            <a:ext cx="10868745" cy="347960"/>
          </a:xfrm>
          <a:prstGeom xmlns:a="http://schemas.openxmlformats.org/drawingml/2006/main" prst="roundRect">
            <a:avLst>
              <a:gd name="adj" fmla="val 14135"/>
            </a:avLst>
          </a:prstGeom>
          <a:solidFill xmlns:a="http://schemas.openxmlformats.org/drawingml/2006/main">
            <a:srgbClr val="DADBF1"/>
          </a:solidFill>
        </p:spPr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dd896e7d540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50" y="1174353"/>
            <a:ext cx="146344" cy="117078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F8E322B-17E3-40E2-8ED2-8A14BCF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69" y="1174353"/>
            <a:ext cx="10980760" cy="151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900" b="1" spc="-18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Example Request:</a:t>
            </a:r>
            <a:r>
              <a:rPr sz="900" spc="-18">
                <a:solidFill>
                  <a:srgbClr val="000000"/>
                </a:solidFill>
                <a:latin typeface="Inter"/>
                <a:ea typeface="Inter"/>
                <a:cs typeface="Inter"/>
              </a:rPr>
              <a:t> "Need 50 business laptops under ₹45,000 each, for Hyderabad, within 10 days."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70BA5B5-4C85-4AB9-A867-A2CD06D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502073"/>
            <a:ext cx="234150" cy="1463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spc="-28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01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2BFABA5-9269-496B-857F-87C8AE5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688405"/>
            <a:ext cx="5398059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5129639-1BB6-40E2-B0A2-AC95F2E8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772345"/>
            <a:ext cx="539805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NATURAL LANGUAGE</a:t>
            </a:r>
            <a:endParaRPr sz="11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CF17862-EDE1-40E1-9098-1E80C63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1502073"/>
            <a:ext cx="234150" cy="1463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spc="-28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02</a:t>
            </a:r>
            <a:endParaRPr sz="9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C11788B-9A5B-4530-897B-149E5229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1688405"/>
            <a:ext cx="5398159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4CBA09C-5D17-4C55-B696-2E37193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1772345"/>
            <a:ext cx="539815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STRUCTURED INTENT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9C38F2D-6080-4A5C-AAC0-772C2C57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115542"/>
            <a:ext cx="234150" cy="1463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spc="-28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03</a:t>
            </a:r>
            <a:endParaRPr sz="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6858EE6-A04B-4888-8D1C-087186F9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301875"/>
            <a:ext cx="5398059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A7258C7-CDEE-4315-BF04-04681C4D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385814"/>
            <a:ext cx="539805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SUPPLIER DISCOVERY</a:t>
            </a:r>
            <a:endParaRPr sz="11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0FE80CB-1172-4041-8DB8-D069BB5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2115542"/>
            <a:ext cx="234150" cy="1463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spc="-28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04</a:t>
            </a:r>
            <a:endParaRPr sz="9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ADC80F-EAA9-452A-AF7A-3B14FC1F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2301875"/>
            <a:ext cx="5398159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4336402-6557-4348-B496-C7A946F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2385814"/>
            <a:ext cx="539815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OFFER COMPARISON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1492B3-06F3-4BD4-800D-9CD60351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729012"/>
            <a:ext cx="234150" cy="1463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spc="-28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05</a:t>
            </a:r>
            <a:endParaRPr sz="9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3832B07-B076-476D-830E-36F57012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915345"/>
            <a:ext cx="5398059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9C4E891-1C91-4B97-A5DB-B8C0691C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999284"/>
            <a:ext cx="539805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NEGOTIATION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53BD476-C2B2-45BF-A855-2041DB0C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2729012"/>
            <a:ext cx="234150" cy="1463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spc="-28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06</a:t>
            </a:r>
            <a:endParaRPr sz="9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A184D23-49C3-44B5-ABAD-0933856D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2915345"/>
            <a:ext cx="5398159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7D977B9-334D-4B11-B80D-35AF11DB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2999284"/>
            <a:ext cx="539815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POLICY CHECK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8E05722-DD20-4E1E-8282-294757D1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342481"/>
            <a:ext cx="234150" cy="1463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spc="-28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07</a:t>
            </a:r>
            <a:endParaRPr sz="9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1478EE8F-7A91-4514-94D2-DB19523E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528814"/>
            <a:ext cx="5398059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0CF8B14-2A7F-4685-ABA8-11CB1217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612753"/>
            <a:ext cx="539805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APPROVAL</a:t>
            </a:r>
            <a:endParaRPr sz="11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9FBE38D-802C-4567-8330-0D0C5FBE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3342481"/>
            <a:ext cx="234150" cy="1463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spc="-28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08</a:t>
            </a:r>
            <a:endParaRPr sz="9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761304D-A73F-4184-9280-664930F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3528814"/>
            <a:ext cx="5398159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397AC14-CDAA-4BEF-BD72-39A0E29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3612753"/>
            <a:ext cx="539815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ORDER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9289245E-E78C-48F3-98A6-BAC7486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992166"/>
            <a:ext cx="10868745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Outcome</a:t>
            </a:r>
            <a:endParaRPr sz="11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A51A27F3-7CE9-4C4D-B1D2-5038C6B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283770"/>
            <a:ext cx="3574564" cy="853480"/>
          </a:xfrm>
          <a:prstGeom xmlns:a="http://schemas.openxmlformats.org/drawingml/2006/main" prst="roundRect">
            <a:avLst>
              <a:gd name="adj" fmla="val 5763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DD5A0AA-2C20-4981-AD58-FDCBE6DF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00" y="4407198"/>
            <a:ext cx="351226" cy="3512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8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178afe4044646">
            <a:extLst>
              <a:ext uri="{96DAC541-7B7A-43D3-8B79-37D633B846F1}">
                <asvg:svgBlip xmlns:asvg="http://schemas.microsoft.com/office/drawing/2016/SVG/main" r:embed="Rc9952e1f32ee43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437" y="4503737"/>
            <a:ext cx="158052" cy="158055"/>
          </a:xfrm>
          <a:prstGeom xmlns:a="http://schemas.openxmlformats.org/drawingml/2006/main" prst="rect">
            <a:avLst/>
          </a:prstGeom>
        </p:spPr>
      </p:pic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89B5513-EAB4-42AB-A4FB-F9D5EA2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00" y="4830961"/>
            <a:ext cx="3327714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Best supplier identified</a:t>
            </a:r>
            <a:endParaRPr sz="115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CE87FB3-A17E-48A6-916F-68E7F0A1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566" y="4283770"/>
            <a:ext cx="3574564" cy="853480"/>
          </a:xfrm>
          <a:prstGeom xmlns:a="http://schemas.openxmlformats.org/drawingml/2006/main" prst="roundRect">
            <a:avLst>
              <a:gd name="adj" fmla="val 5763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DB227684-9675-4F05-A18F-348E0A5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991" y="4407198"/>
            <a:ext cx="351226" cy="3512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9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9c7dd2e854895">
            <a:extLst>
              <a:ext uri="{96DAC541-7B7A-43D3-8B79-37D633B846F1}">
                <asvg:svgBlip xmlns:asvg="http://schemas.microsoft.com/office/drawing/2016/SVG/main" r:embed="Rda6cf36bfe6146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8528" y="4503737"/>
            <a:ext cx="158052" cy="158055"/>
          </a:xfrm>
          <a:prstGeom xmlns:a="http://schemas.openxmlformats.org/drawingml/2006/main" prst="rect">
            <a:avLst/>
          </a:prstGeom>
        </p:spPr>
      </p:pic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BC257641-1116-456B-88FA-2A528878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991" y="4830961"/>
            <a:ext cx="3327714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Negotiation completed</a:t>
            </a:r>
            <a:endParaRPr sz="1150"/>
          </a:p>
        </p:txBody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1E3FF70F-226E-49CD-B926-D89F5E4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56" y="4283770"/>
            <a:ext cx="3574564" cy="853480"/>
          </a:xfrm>
          <a:prstGeom xmlns:a="http://schemas.openxmlformats.org/drawingml/2006/main" prst="roundRect">
            <a:avLst>
              <a:gd name="adj" fmla="val 5763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626E1C30-402D-43B4-91BB-BA9AEB45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81" y="4407198"/>
            <a:ext cx="351226" cy="3512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9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fca5a042541fb">
            <a:extLst>
              <a:ext uri="{96DAC541-7B7A-43D3-8B79-37D633B846F1}">
                <asvg:svgBlip xmlns:asvg="http://schemas.microsoft.com/office/drawing/2016/SVG/main" r:embed="R27e2c87e7a1543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5619" y="4503737"/>
            <a:ext cx="158052" cy="158055"/>
          </a:xfrm>
          <a:prstGeom xmlns:a="http://schemas.openxmlformats.org/drawingml/2006/main" prst="rect">
            <a:avLst/>
          </a:prstGeom>
        </p:spPr>
      </p:pic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AA9FFBFA-5EE3-4311-8287-C1658FFC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081" y="4830961"/>
            <a:ext cx="3327714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Approval routed</a:t>
            </a:r>
            <a:endParaRPr sz="1150"/>
          </a:p>
        </p:txBody>
      </p:sp>
      <p:sp>
        <p:nvSpPr>
          <p:cNvPr id="43" name="Shape 37">
            <a:extLst xmlns:a="http://schemas.openxmlformats.org/drawingml/2006/main">
              <a:ext uri="{FF2B5EF4-FFF2-40B4-BE49-F238E27FC236}">
                <a16:creationId xmlns:a16="http://schemas.microsoft.com/office/drawing/2014/main" id="{097EFEF8-F192-4E83-A051-CAEE2D3F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209778"/>
            <a:ext cx="5398059" cy="853480"/>
          </a:xfrm>
          <a:prstGeom xmlns:a="http://schemas.openxmlformats.org/drawingml/2006/main" prst="roundRect">
            <a:avLst>
              <a:gd name="adj" fmla="val 5763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44" name="Shape 38">
            <a:extLst xmlns:a="http://schemas.openxmlformats.org/drawingml/2006/main">
              <a:ext uri="{FF2B5EF4-FFF2-40B4-BE49-F238E27FC236}">
                <a16:creationId xmlns:a16="http://schemas.microsoft.com/office/drawing/2014/main" id="{61D14C22-DA5E-4C46-83DB-292B375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00" y="5333206"/>
            <a:ext cx="351226" cy="3512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10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0f2ed59954825">
            <a:extLst>
              <a:ext uri="{96DAC541-7B7A-43D3-8B79-37D633B846F1}">
                <asvg:svgBlip xmlns:asvg="http://schemas.microsoft.com/office/drawing/2016/SVG/main" r:embed="R197100946c7144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437" y="5429746"/>
            <a:ext cx="158052" cy="158055"/>
          </a:xfrm>
          <a:prstGeom xmlns:a="http://schemas.openxmlformats.org/drawingml/2006/main" prst="rect">
            <a:avLst/>
          </a:prstGeom>
        </p:spPr>
      </p:pic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6C9C6713-BEB9-4252-A4BB-3E23A6F2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00" y="5756970"/>
            <a:ext cx="515120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Order confirmed</a:t>
            </a:r>
            <a:endParaRPr sz="1150"/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6D97B548-2843-4F2A-B2D0-72267723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061" y="5209778"/>
            <a:ext cx="5398159" cy="853480"/>
          </a:xfrm>
          <a:prstGeom xmlns:a="http://schemas.openxmlformats.org/drawingml/2006/main" prst="roundRect">
            <a:avLst>
              <a:gd name="adj" fmla="val 5763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48" name="Shape 41">
            <a:extLst xmlns:a="http://schemas.openxmlformats.org/drawingml/2006/main">
              <a:ext uri="{FF2B5EF4-FFF2-40B4-BE49-F238E27FC236}">
                <a16:creationId xmlns:a16="http://schemas.microsoft.com/office/drawing/2014/main" id="{2D47A23D-1692-4B63-826C-846DA13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486" y="5333206"/>
            <a:ext cx="351226" cy="3512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10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dd896e7d540b8">
            <a:extLst>
              <a:ext uri="{96DAC541-7B7A-43D3-8B79-37D633B846F1}">
                <asvg:svgBlip xmlns:asvg="http://schemas.microsoft.com/office/drawing/2016/SVG/main" r:embed="Rc0a4f224049a4d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2024" y="5429746"/>
            <a:ext cx="158052" cy="158055"/>
          </a:xfrm>
          <a:prstGeom xmlns:a="http://schemas.openxmlformats.org/drawingml/2006/main" prst="rect">
            <a:avLst/>
          </a:prstGeom>
        </p:spPr>
      </p:pic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947F44DE-F3F7-456B-8545-5E30721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486" y="5756970"/>
            <a:ext cx="5151309" cy="182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 spc="-35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Audit trail preserved</a:t>
            </a:r>
            <a:endParaRPr sz="1150"/>
          </a:p>
        </p:txBody>
      </p:sp>
      <p:sp>
        <p:nvSpPr>
          <p:cNvPr id="51" name="Text 43">
            <a:extLst xmlns:a="http://schemas.openxmlformats.org/drawingml/2006/main">
              <a:ext uri="{FF2B5EF4-FFF2-40B4-BE49-F238E27FC236}">
                <a16:creationId xmlns:a16="http://schemas.microsoft.com/office/drawing/2014/main" id="{B6A80156-7F23-41CD-B6B1-FABFFC50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6144816"/>
            <a:ext cx="11478330" cy="151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900" spc="-18">
                <a:solidFill>
                  <a:srgbClr val="272525"/>
                </a:solidFill>
                <a:latin typeface="Inter"/>
                <a:ea typeface="Inter"/>
                <a:cs typeface="Inter"/>
              </a:rPr>
              <a:t>The AI agent is an </a:t>
            </a:r>
            <a:r>
              <a:rPr sz="900" b="1" spc="-18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ACTION-ORIENTED PROCUREMENT AGENT</a:t>
            </a:r>
            <a:r>
              <a:rPr sz="900" spc="-18">
                <a:solidFill>
                  <a:srgbClr val="272525"/>
                </a:solidFill>
                <a:latin typeface="Inter"/>
                <a:ea typeface="Inter"/>
                <a:cs typeface="Inter"/>
              </a:rPr>
              <a:t>, not a chatbot.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152347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4EE006-6C4F-44D1-A54B-58E4DDBE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662087"/>
            <a:ext cx="10868745" cy="561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500" b="1" spc="-106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Why Beckn / ONDC?</a:t>
            </a:r>
            <a:endParaRPr sz="3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F48347-9597-4783-836D-9064A50A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649710"/>
            <a:ext cx="5215303" cy="280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750" b="1" spc="-53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Traditional Marketplace Model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A567429-8A77-4CD6-90F3-98A941F7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100759"/>
            <a:ext cx="5215303" cy="1638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71827" rIns="0" bIns="0" anchor="t">
            <a:normAutofit/>
          </a:bodyPr>
          <a:lstStyle xmlns:a="http://schemas.openxmlformats.org/drawingml/2006/main"/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272525"/>
                </a:solidFill>
                <a:latin typeface="Inter"/>
                <a:ea typeface="Inter"/>
                <a:cs typeface="Inter"/>
              </a:rPr>
              <a:t>Closed platform ecosystem</a:t>
            </a:r>
            <a:endParaRPr sz="1400"/>
          </a:p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272525"/>
                </a:solidFill>
                <a:latin typeface="Inter"/>
                <a:ea typeface="Inter"/>
                <a:cs typeface="Inter"/>
              </a:rPr>
              <a:t>Search one marketplace at a time</a:t>
            </a:r>
            <a:endParaRPr sz="1400"/>
          </a:p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272525"/>
                </a:solidFill>
                <a:latin typeface="Inter"/>
                <a:ea typeface="Inter"/>
                <a:cs typeface="Inter"/>
              </a:rPr>
              <a:t>Manual supplier comparison</a:t>
            </a:r>
            <a:endParaRPr sz="1400"/>
          </a:p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272525"/>
                </a:solidFill>
                <a:latin typeface="Inter"/>
                <a:ea typeface="Inter"/>
                <a:cs typeface="Inter"/>
              </a:rPr>
              <a:t>Limited interoperability</a:t>
            </a:r>
            <a:endParaRPr sz="1400"/>
          </a:p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272525"/>
                </a:solidFill>
                <a:latin typeface="Inter"/>
                <a:ea typeface="Inter"/>
                <a:cs typeface="Inter"/>
              </a:rPr>
              <a:t>Platform lock-in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3647E00-8030-4135-B14E-539EC25B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889" y="1479153"/>
            <a:ext cx="5474059" cy="2320230"/>
          </a:xfrm>
          <a:prstGeom xmlns:a="http://schemas.openxmlformats.org/drawingml/2006/main" prst="roundRect">
            <a:avLst>
              <a:gd name="adj" fmla="val 5572"/>
            </a:avLst>
          </a:prstGeom>
          <a:solidFill xmlns:a="http://schemas.openxmlformats.org/drawingml/2006/main">
            <a:srgbClr val="4950B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6E6235E-DA06-491F-A8D3-B22524ED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371" y="1649710"/>
            <a:ext cx="5115095" cy="280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750" b="1" spc="-53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Our Open-Network Model</a:t>
            </a:r>
            <a:endParaRPr sz="17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4CC138-42F5-4A6E-8344-F49C9A6A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371" y="2100759"/>
            <a:ext cx="5115095" cy="1638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71827" rIns="0" bIns="0" anchor="t">
            <a:normAutofit/>
          </a:bodyPr>
          <a:lstStyle xmlns:a="http://schemas.openxmlformats.org/drawingml/2006/main"/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FFFFFF"/>
                </a:solidFill>
                <a:latin typeface="Inter"/>
                <a:ea typeface="Inter"/>
                <a:cs typeface="Inter"/>
              </a:rPr>
              <a:t>Open/interoperable commerce layer</a:t>
            </a:r>
            <a:endParaRPr sz="1400"/>
          </a:p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FFFFFF"/>
                </a:solidFill>
                <a:latin typeface="Inter"/>
                <a:ea typeface="Inter"/>
                <a:cs typeface="Inter"/>
              </a:rPr>
              <a:t>AI discovers multiple providers</a:t>
            </a:r>
            <a:endParaRPr sz="1400"/>
          </a:p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FFFFFF"/>
                </a:solidFill>
                <a:latin typeface="Inter"/>
                <a:ea typeface="Inter"/>
                <a:cs typeface="Inter"/>
              </a:rPr>
              <a:t>Automated comparison</a:t>
            </a:r>
            <a:endParaRPr sz="1400"/>
          </a:p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FFFFFF"/>
                </a:solidFill>
                <a:latin typeface="Inter"/>
                <a:ea typeface="Inter"/>
                <a:cs typeface="Inter"/>
              </a:rPr>
              <a:t>Agent-driven negotiation</a:t>
            </a:r>
            <a:endParaRPr sz="1400"/>
          </a:p>
          <a:p xmlns:a="http://schemas.openxmlformats.org/drawingml/2006/main"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sz="1400" spc="-28">
                <a:solidFill>
                  <a:srgbClr val="FFFFFF"/>
                </a:solidFill>
                <a:latin typeface="Inter"/>
                <a:ea typeface="Inter"/>
                <a:cs typeface="Inter"/>
              </a:rPr>
              <a:t>Policy-controlled execution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F792EE-004D-40F0-BD2B-99D215D0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48" y="4183162"/>
            <a:ext cx="11209057" cy="280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400" spc="-28">
                <a:solidFill>
                  <a:srgbClr val="272525"/>
                </a:solidFill>
                <a:latin typeface="Inter"/>
                <a:ea typeface="Inter"/>
                <a:cs typeface="Inter"/>
              </a:rPr>
              <a:t>"BECKN IS THE COMMUNICATION LAYER — NOT THE DECISION MAKER."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4729DCD-4517-4816-AAD6-252D11FC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991273"/>
            <a:ext cx="25399" cy="663873"/>
          </a:xfrm>
          <a:prstGeom xmlns:a="http://schemas.openxmlformats.org/drawingml/2006/main" prst="roundRect">
            <a:avLst>
              <a:gd name="adj" fmla="val 50001"/>
            </a:avLst>
          </a:prstGeom>
          <a:solidFill xmlns:a="http://schemas.openxmlformats.org/drawingml/2006/main">
            <a:srgbClr val="4950BC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bff8bdc7340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4847034"/>
            <a:ext cx="3622882" cy="718245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04D79EA-5016-4670-8D22-60671EBC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57" y="5735836"/>
            <a:ext cx="3263918" cy="280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750" b="1" spc="-53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AI AGENT</a:t>
            </a:r>
            <a:endParaRPr sz="1750"/>
          </a:p>
        </p:txBody>
      </p:sp>
      <p:pic>
        <p:nvPicPr>
          <p:cNvPr id="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a8c0eaa8a45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4357" y="4847034"/>
            <a:ext cx="3622882" cy="718245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1BC2509-B574-499F-B2A3-4E76641E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839" y="5735836"/>
            <a:ext cx="3263918" cy="280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750" b="1" spc="-53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BECKN PROTOCOL</a:t>
            </a:r>
            <a:endParaRPr sz="1750"/>
          </a:p>
        </p:txBody>
      </p:sp>
      <p:pic>
        <p:nvPicPr>
          <p:cNvPr id="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18336112840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7239" y="4847034"/>
            <a:ext cx="3622882" cy="718245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C9A4E3B6-CE8B-4589-AA5C-BA8CA4A1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1" y="5735836"/>
            <a:ext cx="3263918" cy="280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750" b="1" spc="-53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MULTIPLE PROVIDERS / BPPs</a:t>
            </a:r>
            <a:endParaRPr sz="1750"/>
          </a:p>
        </p:txBody>
      </p:sp>
    </p:spTree>
    <p:extLst>
      <p:ext uri="{BB962C8B-B14F-4D97-AF65-F5344CB8AC3E}">
        <p14:creationId xmlns:p14="http://schemas.microsoft.com/office/powerpoint/2010/main" val="10785745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5a71c467d4b55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844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723243-7E5F-464B-8CDF-56D00B59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" y="442913"/>
            <a:ext cx="10868787" cy="328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2050" b="1">
                <a:solidFill>
                  <a:srgbClr val="000000"/>
                </a:solidFill>
                <a:latin typeface="Inter Bold"/>
                <a:ea typeface="Inter Bold"/>
                <a:cs typeface="Inter Bold"/>
              </a:defRPr>
            </a:pPr>
            <a:r>
              <a:rPr sz="2050" b="1" spc="-4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Every purchase follows a predictable Beckn cycle</a:t>
            </a:r>
            <a:endParaRPr sz="1300"/>
          </a:p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578c0455f4d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656" y="782141"/>
            <a:ext cx="6838382" cy="2566095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9FD303A-1581-4305-A56E-2F928BE1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967" y="2725293"/>
            <a:ext cx="1031415" cy="1986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250" b="1" spc="-38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Track</a:t>
            </a:r>
            <a:endParaRPr sz="12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4199FDE-41CD-41FA-84A8-E7466EF9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103" y="2725293"/>
            <a:ext cx="1031414" cy="1986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250" b="1" spc="-38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Confirm</a:t>
            </a:r>
            <a:endParaRPr sz="12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A0E93A8-7469-4F7C-A1F1-D2590428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03" y="2725293"/>
            <a:ext cx="1031414" cy="1986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250" b="1" spc="-38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Initialize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B7C26CA-847F-4168-88FC-29102BC5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502" y="2725293"/>
            <a:ext cx="1031414" cy="1986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250" b="1" spc="-38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Select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F95A6DA-CAC7-45D5-B1B4-918ACA5F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444" y="2725293"/>
            <a:ext cx="1031415" cy="1986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250" b="1" spc="-38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Discover</a:t>
            </a:r>
            <a:endParaRPr sz="12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4AEB10-C653-4CD4-B241-5B52C689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398838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BAP request → network</a:t>
            </a:r>
            <a:endParaRPr sz="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1818061-36C3-47FC-9CEB-E7493D6E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530600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01</a:t>
            </a:r>
            <a:endParaRPr sz="5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9053CA-881D-4607-BEE9-26BCDD2F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638352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9BDACE9-5194-4BB8-B61C-BB6E019A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684588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DISCOVER   ·   search</a:t>
            </a:r>
            <a:endParaRPr sz="6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7F3FB44-3E0C-4C21-BC8D-15C25440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863677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02</a:t>
            </a:r>
            <a:endParaRPr sz="5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E631BFC-6B5B-4908-B470-3C7946F6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971429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E20ACA2-A25A-4173-A382-4CCD5DA8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017665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SELECT   ·   select</a:t>
            </a:r>
            <a:endParaRPr sz="6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675B2C5-C575-4CFE-8C78-1DB01CD6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196755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03</a:t>
            </a:r>
            <a:endParaRPr sz="5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794CEC1-E409-46CD-991F-A52F7FD6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304506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9631995-932C-4517-9B7C-8D810657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350742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INITIALIZE   ·   init</a:t>
            </a:r>
            <a:endParaRPr sz="6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6AECFF2-EA73-47C0-BE53-6AE67CD7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529832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04</a:t>
            </a:r>
            <a:endParaRPr sz="5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52824AE-C851-4BF4-BBB5-68613828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637584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8589240-E2D3-488C-8DE6-AF85A484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683820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CONFIRM   ·   confirm</a:t>
            </a:r>
            <a:endParaRPr sz="6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743456D-F278-4606-BA9B-AE6DC07F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862909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05</a:t>
            </a:r>
            <a:endParaRPr sz="5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4E48F2B-CA84-4DEC-8CE9-11B09CC8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970661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42776C-D51D-4D37-94A0-A2388597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016897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TRACK   ·   status</a:t>
            </a:r>
            <a:endParaRPr sz="6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F54A00D-BCC4-4141-90B9-C1E20ED4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3398838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BPP callback → BAP</a:t>
            </a:r>
            <a:endParaRPr sz="6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79572AE-3280-41AF-BEA2-86ED5DB5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3530600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01</a:t>
            </a:r>
            <a:endParaRPr sz="5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08D22350-5479-45F2-AB8F-515B1BED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3638352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1E8D31F-EEF9-4DC0-9226-790F0D55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3684588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DISCOVER   ·   on_search</a:t>
            </a:r>
            <a:endParaRPr sz="6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6AEAB0D-CB2A-46CC-8793-846D666F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3863677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02</a:t>
            </a:r>
            <a:endParaRPr sz="5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9006AA5-F6EA-4FC2-B373-C4D2AEB9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3971429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A275E14-BDD6-40AC-B308-A9762604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4017665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SELECT   ·   on_select</a:t>
            </a:r>
            <a:endParaRPr sz="6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F3486A8-D2CB-4083-888B-4C8A398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4196755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03</a:t>
            </a:r>
            <a:endParaRPr sz="5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782F84B7-5124-4080-9071-9A40AFD7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4304506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C31BFDCB-2950-4DBC-A165-CE10806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4350742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INITIALIZE   ·   on_init</a:t>
            </a:r>
            <a:endParaRPr sz="6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25F06B2-FB3B-4885-BE1E-7E506EF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4529832"/>
            <a:ext cx="134339" cy="83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00" spc="-16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04</a:t>
            </a:r>
            <a:endParaRPr sz="5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A4571525-BAB0-4156-BA28-22F83003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4637584"/>
            <a:ext cx="535242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EF24E9B-A303-4E73-B775-29AC9FB0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50" y="4683820"/>
            <a:ext cx="5352420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CONFIRM   ·   on_confirm</a:t>
            </a:r>
            <a:endParaRPr sz="6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99000B01-AD2E-4C17-819F-3210F77D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225752"/>
            <a:ext cx="10868745" cy="151606"/>
          </a:xfrm>
          <a:prstGeom xmlns:a="http://schemas.openxmlformats.org/drawingml/2006/main" prst="roundRect">
            <a:avLst>
              <a:gd name="adj" fmla="val 18614"/>
            </a:avLst>
          </a:prstGeom>
          <a:solidFill xmlns:a="http://schemas.openxmlformats.org/drawingml/2006/main">
            <a:srgbClr val="DADBF1"/>
          </a:solidFill>
        </p:spPr>
      </p:sp>
      <p:pic>
        <p:nvPicPr>
          <p:cNvPr id="9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aede30907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44" y="5266333"/>
            <a:ext cx="83937" cy="67171"/>
          </a:xfrm>
          <a:prstGeom xmlns:a="http://schemas.openxmlformats.org/drawingml/2006/main" prst="rect">
            <a:avLst/>
          </a:prstGeom>
        </p:spPr>
      </p:pic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5CDE1AE5-3850-4AD0-A1D1-54E8204A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51" y="5266333"/>
            <a:ext cx="11192885" cy="728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buNone/>
            </a:pPr>
            <a:r>
              <a:rPr sz="500" spc="-11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AI agent decides what to buy; the Beckn Adapter translates that decision into versioned protocol messages.</a:t>
            </a:r>
            <a:endParaRPr sz="500"/>
          </a:p>
        </p:txBody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d3462ea0c45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5404148"/>
            <a:ext cx="5434373" cy="268684"/>
          </a:xfrm>
          <a:prstGeom xmlns:a="http://schemas.openxmlformats.org/drawingml/2006/main" prst="rect">
            <a:avLst/>
          </a:prstGeom>
        </p:spPr>
      </p:pic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4674A818-0CE7-45C8-9183-B818412F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44" y="5696645"/>
            <a:ext cx="5300034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AI AGENT — intent + policy</a:t>
            </a:r>
            <a:endParaRPr sz="650"/>
          </a:p>
        </p:txBody>
      </p:sp>
      <p:pic>
        <p:nvPicPr>
          <p:cNvPr id="9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5949268a444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5848" y="5404148"/>
            <a:ext cx="5434373" cy="268684"/>
          </a:xfrm>
          <a:prstGeom xmlns:a="http://schemas.openxmlformats.org/drawingml/2006/main" prst="rect">
            <a:avLst/>
          </a:prstGeom>
        </p:spPr>
      </p:pic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927C0194-59EF-4F7F-BA17-84EC247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17" y="5696645"/>
            <a:ext cx="5300034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BECKN ADAPTER — protocol translation</a:t>
            </a:r>
            <a:endParaRPr sz="650"/>
          </a:p>
        </p:txBody>
      </p:sp>
      <p:pic>
        <p:nvPicPr>
          <p:cNvPr id="10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a606774084c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5868789"/>
            <a:ext cx="5434373" cy="268684"/>
          </a:xfrm>
          <a:prstGeom xmlns:a="http://schemas.openxmlformats.org/drawingml/2006/main" prst="rect">
            <a:avLst/>
          </a:prstGeom>
        </p:spPr>
      </p:pic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86612382-890E-4C3F-B9EA-AC25B15A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44" y="6161286"/>
            <a:ext cx="5300034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BECKN NETWORK — discovery + routing</a:t>
            </a:r>
            <a:endParaRPr sz="650"/>
          </a:p>
        </p:txBody>
      </p:sp>
      <p:pic>
        <p:nvPicPr>
          <p:cNvPr id="10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f47c20d1b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5848" y="5868789"/>
            <a:ext cx="5434373" cy="268684"/>
          </a:xfrm>
          <a:prstGeom xmlns:a="http://schemas.openxmlformats.org/drawingml/2006/main" prst="rect">
            <a:avLst/>
          </a:prstGeom>
        </p:spPr>
      </p:pic>
      <p:sp>
        <p:nvSpPr>
          <p:cNvPr id="48" name="Text 40">
            <a:extLst xmlns:a="http://schemas.openxmlformats.org/drawingml/2006/main">
              <a:ext uri="{FF2B5EF4-FFF2-40B4-BE49-F238E27FC236}">
                <a16:creationId xmlns:a16="http://schemas.microsoft.com/office/drawing/2014/main" id="{C14F1D1E-E047-4C5A-A662-72DDA51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17" y="6161286"/>
            <a:ext cx="5300034" cy="104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650" b="1" spc="-2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PROVIDER / BPP — offer + fulfilment</a:t>
            </a:r>
            <a:endParaRPr sz="650"/>
          </a:p>
        </p:txBody>
      </p:sp>
      <p:sp>
        <p:nvSpPr>
          <p:cNvPr id="55" name="Callback Status Number">
            <a:extLst xmlns:a="http://schemas.openxmlformats.org/drawingml/2006/main">
              <a:ext uri="{FF2B5EF4-FFF2-40B4-BE49-F238E27FC236}">
                <a16:creationId xmlns:a16="http://schemas.microsoft.com/office/drawing/2014/main" id="{220748BF-48D6-4544-9FCE-B526A884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06" y="4862894"/>
            <a:ext cx="134303" cy="8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00">
                <a:solidFill>
                  <a:srgbClr val="272525"/>
                </a:solidFill>
                <a:latin typeface="Inter Light"/>
                <a:ea typeface="Inter Light"/>
                <a:cs typeface="Inter Light"/>
              </a:defRPr>
            </a:pPr>
            <a:r>
              <a:rPr sz="500">
                <a:solidFill>
                  <a:srgbClr val="272525"/>
                </a:solidFill>
                <a:latin typeface="Inter Light"/>
                <a:ea typeface="Inter Light"/>
                <a:cs typeface="Inter Light"/>
              </a:rPr>
              <a:t>05</a:t>
            </a:r>
          </a:p>
        </p:txBody>
      </p:sp>
      <p:sp>
        <p:nvSpPr>
          <p:cNvPr id="56" name="Callback Status Divider">
            <a:extLst xmlns:a="http://schemas.openxmlformats.org/drawingml/2006/main">
              <a:ext uri="{FF2B5EF4-FFF2-40B4-BE49-F238E27FC236}">
                <a16:creationId xmlns:a16="http://schemas.microsoft.com/office/drawing/2014/main" id="{E6E7FB32-510E-4157-8D2E-0403CDEB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06" y="4970621"/>
            <a:ext cx="5352383" cy="6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50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allback Status">
            <a:extLst xmlns:a="http://schemas.openxmlformats.org/drawingml/2006/main">
              <a:ext uri="{FF2B5EF4-FFF2-40B4-BE49-F238E27FC236}">
                <a16:creationId xmlns:a16="http://schemas.microsoft.com/office/drawing/2014/main" id="{846E5155-556D-4EFA-A2EA-8AB438F0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106" y="5016913"/>
            <a:ext cx="5352383" cy="104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50" b="1">
                <a:solidFill>
                  <a:srgbClr val="272525"/>
                </a:solidFill>
                <a:latin typeface="Inter Bold"/>
                <a:ea typeface="Inter Bold"/>
                <a:cs typeface="Inter Bold"/>
              </a:defRPr>
            </a:pPr>
            <a:r>
              <a:rPr sz="6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TRACK   ·   on_status</a:t>
            </a:r>
          </a:p>
        </p:txBody>
      </p:sp>
    </p:spTree>
    <p:extLst>
      <p:ext uri="{BB962C8B-B14F-4D97-AF65-F5344CB8AC3E}">
        <p14:creationId xmlns:p14="http://schemas.microsoft.com/office/powerpoint/2010/main" val="19483047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C2B7C9-2281-4314-BF98-2521CB81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52946"/>
            <a:ext cx="10868745" cy="3295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50" b="1" spc="-62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The agent optimizes total value—not just price</a:t>
            </a:r>
            <a:endParaRPr sz="2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3AA7A3-8138-4D16-885B-80ED1469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000026"/>
            <a:ext cx="11478330" cy="1313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 spc="-17">
                <a:solidFill>
                  <a:srgbClr val="272525"/>
                </a:solidFill>
                <a:latin typeface="Inter"/>
                <a:ea typeface="Inter"/>
                <a:cs typeface="Inter"/>
              </a:rPr>
              <a:t>It ranks suppliers on six factors, then negotiates only within human-approved limits.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A40D12-A0E9-485A-B567-E2C40F97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256209"/>
            <a:ext cx="5305788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Weighted supplier score (100%)</a:t>
            </a:r>
            <a:endParaRPr sz="1000"/>
          </a:p>
        </p:txBody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d9f847f23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475" y="1486991"/>
            <a:ext cx="4509875" cy="324623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287676D-823B-43A4-B996-EA1D98E6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82" y="1256209"/>
            <a:ext cx="5305788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Negotiation within policy</a:t>
            </a:r>
            <a:endParaRPr sz="1000"/>
          </a:p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fa513ebe04e89">
            <a:extLst>
              <a:ext uri="{96DAC541-7B7A-43D3-8B79-37D633B846F1}">
                <asvg:svgBlip xmlns:asvg="http://schemas.microsoft.com/office/drawing/2016/SVG/main" r:embed="R98f73e86fbd040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0782" y="1486991"/>
            <a:ext cx="5305788" cy="590947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1CA99F7-28A7-4327-B8CF-18FE65CD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648" y="1605062"/>
            <a:ext cx="5018855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Supplier offer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3413B40-926E-4579-A020-888C10B1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648" y="1828502"/>
            <a:ext cx="5018855" cy="1313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 spc="-17">
                <a:solidFill>
                  <a:srgbClr val="272525"/>
                </a:solidFill>
                <a:latin typeface="Inter"/>
                <a:ea typeface="Inter"/>
                <a:cs typeface="Inter"/>
              </a:rPr>
              <a:t>₹42,800</a:t>
            </a:r>
            <a:endParaRPr sz="800"/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fa513ebe04e89">
            <a:extLst>
              <a:ext uri="{96DAC541-7B7A-43D3-8B79-37D633B846F1}">
                <asvg:svgBlip xmlns:asvg="http://schemas.microsoft.com/office/drawing/2016/SVG/main" r:embed="R98f73e86fbd040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0782" y="2136676"/>
            <a:ext cx="5305788" cy="590947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9B82EFBF-1A61-40E1-8B00-D93D367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648" y="2254746"/>
            <a:ext cx="5018855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AI counter-offer</a:t>
            </a:r>
            <a:endParaRPr sz="10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358DF40-D09B-4A16-AF2D-1ACECD1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648" y="2478187"/>
            <a:ext cx="5018855" cy="1313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 spc="-17">
                <a:solidFill>
                  <a:srgbClr val="272525"/>
                </a:solidFill>
                <a:latin typeface="Inter"/>
                <a:ea typeface="Inter"/>
                <a:cs typeface="Inter"/>
              </a:rPr>
              <a:t>₹41,500</a:t>
            </a:r>
            <a:endParaRPr sz="800"/>
          </a:p>
        </p:txBody>
      </p:sp>
      <p:pic>
        <p:nvPicPr>
          <p:cNvPr id="4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fa513ebe04e89">
            <a:extLst>
              <a:ext uri="{96DAC541-7B7A-43D3-8B79-37D633B846F1}">
                <asvg:svgBlip xmlns:asvg="http://schemas.microsoft.com/office/drawing/2016/SVG/main" r:embed="R98f73e86fbd040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0782" y="2786360"/>
            <a:ext cx="5305788" cy="590947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1F0CF9A0-0DF0-4340-AF29-5C9DF150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648" y="2904430"/>
            <a:ext cx="5018855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Accepted within policy</a:t>
            </a:r>
            <a:endParaRPr sz="1000"/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00F8D0C-2D41-4109-A490-7C7ABD2E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648" y="3127871"/>
            <a:ext cx="5018855" cy="1313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 spc="-17">
                <a:solidFill>
                  <a:srgbClr val="272525"/>
                </a:solidFill>
                <a:latin typeface="Inter"/>
                <a:ea typeface="Inter"/>
                <a:cs typeface="Inter"/>
              </a:rPr>
              <a:t>₹41,500 · saves ₹1,300 (3.0%)</a:t>
            </a:r>
            <a:endParaRPr sz="800"/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56DE0AFC-945F-47AE-89AF-141A86C4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887516"/>
            <a:ext cx="10868745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Human-approved guardrails</a:t>
            </a:r>
            <a:endParaRPr sz="10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A98E85AC-3A62-4F53-9BD1-20D57A49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140424"/>
            <a:ext cx="3583692" cy="388144"/>
          </a:xfrm>
          <a:prstGeom xmlns:a="http://schemas.openxmlformats.org/drawingml/2006/main" prst="roundRect">
            <a:avLst>
              <a:gd name="adj" fmla="val 11409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318B984A-0B44-495A-B329-52F82A3C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2" y="5252145"/>
            <a:ext cx="3360257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Target price + budget</a:t>
            </a:r>
            <a:endParaRPr sz="100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B0977E05-74FE-44F3-882A-440226C2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902" y="5140424"/>
            <a:ext cx="3583791" cy="388144"/>
          </a:xfrm>
          <a:prstGeom xmlns:a="http://schemas.openxmlformats.org/drawingml/2006/main" prst="roundRect">
            <a:avLst>
              <a:gd name="adj" fmla="val 11409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C0B0774D-4774-48C2-BD4C-4B2C108C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620" y="5252145"/>
            <a:ext cx="3360356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Maximum negotiation rounds</a:t>
            </a:r>
            <a:endParaRPr sz="10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DF81AE88-93F3-4297-92D2-47EFB1CA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429" y="5140424"/>
            <a:ext cx="3583791" cy="388144"/>
          </a:xfrm>
          <a:prstGeom xmlns:a="http://schemas.openxmlformats.org/drawingml/2006/main" prst="roundRect">
            <a:avLst>
              <a:gd name="adj" fmla="val 11409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F88CE86-9F4D-477C-BFBD-48223F90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47" y="5252145"/>
            <a:ext cx="3360356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Approved payment terms</a:t>
            </a:r>
            <a:endParaRPr sz="10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05DC3F1A-9CC8-474D-BD74-3789069A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587305"/>
            <a:ext cx="5405005" cy="388144"/>
          </a:xfrm>
          <a:prstGeom xmlns:a="http://schemas.openxmlformats.org/drawingml/2006/main" prst="roundRect">
            <a:avLst>
              <a:gd name="adj" fmla="val 11409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D96F646A-965B-41B6-B631-83DE287A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2" y="5699026"/>
            <a:ext cx="5181570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Minimum supplier quality</a:t>
            </a:r>
            <a:endParaRPr sz="1000"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9DC9A1ED-FA71-4218-AEB4-6B5B3EA6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216" y="5587305"/>
            <a:ext cx="5405005" cy="388144"/>
          </a:xfrm>
          <a:prstGeom xmlns:a="http://schemas.openxmlformats.org/drawingml/2006/main" prst="roundRect">
            <a:avLst>
              <a:gd name="adj" fmla="val 11409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B9AE60F8-4FBD-4871-80EB-2D6DEE79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33" y="5699026"/>
            <a:ext cx="5181570" cy="1647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 spc="-3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Escalation thresholds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C1E0CD7-D5B8-43E0-AA7F-9F44CDD5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" y="6107609"/>
            <a:ext cx="11320179" cy="1313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 spc="-17">
                <a:solidFill>
                  <a:srgbClr val="272525"/>
                </a:solidFill>
                <a:latin typeface="Inter"/>
                <a:ea typeface="Inter"/>
                <a:cs typeface="Inter"/>
              </a:rPr>
              <a:t>Optimization stops at the policy boundary; exceptions require human approval.</a:t>
            </a:r>
            <a:endParaRPr sz="8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E58ACBD7-1518-455B-A8A6-B01839D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6041529"/>
            <a:ext cx="12700" cy="263525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4950BC"/>
          </a:solidFill>
        </p:spPr>
      </p:sp>
    </p:spTree>
    <p:extLst>
      <p:ext uri="{BB962C8B-B14F-4D97-AF65-F5344CB8AC3E}">
        <p14:creationId xmlns:p14="http://schemas.microsoft.com/office/powerpoint/2010/main" val="9675625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F360C3-6D39-434B-95A5-373398B2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43818"/>
            <a:ext cx="10868745" cy="311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950" b="1" spc="-59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Enterprise Guardrails &amp; Human-in-the-Loop</a:t>
            </a:r>
            <a:endParaRPr sz="1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2A5455-D1C1-4D2E-9D13-4ECC7D13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876697"/>
            <a:ext cx="10868745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Approval Ladder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5D6755A-BEDA-4327-BA09-19A6A3B7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111746"/>
            <a:ext cx="1358568" cy="509091"/>
          </a:xfrm>
          <a:prstGeom xmlns:a="http://schemas.openxmlformats.org/drawingml/2006/main" prst="roundRect">
            <a:avLst>
              <a:gd name="adj" fmla="val 8236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45CD0D-7BAF-4417-813C-1C1B8F5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564" y="1278533"/>
            <a:ext cx="140292" cy="1754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1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1E6AB33-1B14-4082-BBD8-88C8A054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855" y="1211560"/>
            <a:ext cx="9310554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≤ ₹50,000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746255B-5638-43D1-AAD6-D242BF41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855" y="1399084"/>
            <a:ext cx="9310554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AUTO-EXECUTE</a:t>
            </a:r>
            <a:endParaRPr sz="7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3B9BACD-A22D-44D9-B983-1924028A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949" y="1617662"/>
            <a:ext cx="9410365" cy="635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011916D-E82E-44BB-BD02-2EC391AF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670745"/>
            <a:ext cx="2717137" cy="509091"/>
          </a:xfrm>
          <a:prstGeom xmlns:a="http://schemas.openxmlformats.org/drawingml/2006/main" prst="roundRect">
            <a:avLst>
              <a:gd name="adj" fmla="val 8236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307EBF1-E405-467D-B08F-C389BC94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897" y="1837531"/>
            <a:ext cx="140292" cy="1754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2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C2FB62-AE3D-4D5E-AA7E-162C6817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423" y="1770559"/>
            <a:ext cx="7951985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₹50,001 – ₹5,00,000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F0EE84C-9486-45AA-9FF5-F80F9F9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423" y="1958082"/>
            <a:ext cx="7951985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MANAGER APPROVAL</a:t>
            </a:r>
            <a:endParaRPr sz="7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71A1793-B7DB-4C79-8F31-B71E0A06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17" y="2176661"/>
            <a:ext cx="8051797" cy="635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D1BABE0-57AE-4996-B612-3902B503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229743"/>
            <a:ext cx="4075705" cy="509091"/>
          </a:xfrm>
          <a:prstGeom xmlns:a="http://schemas.openxmlformats.org/drawingml/2006/main" prst="roundRect">
            <a:avLst>
              <a:gd name="adj" fmla="val 8236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8A3D8D9-3B41-41EC-A565-2094D7E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132" y="2396530"/>
            <a:ext cx="140292" cy="1754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3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9508598-30FC-43F8-88AD-CCE78F9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991" y="2329557"/>
            <a:ext cx="6593417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₹5,00,001 – ₹25,00,000</a:t>
            </a:r>
            <a:endParaRPr sz="9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F921B9-3216-46DA-AAB9-48860E60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991" y="2517080"/>
            <a:ext cx="6593417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FINANCE APPROVAL</a:t>
            </a:r>
            <a:endParaRPr sz="7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27DA97D-F6B3-44D6-B5C6-C7EACAD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086" y="2735659"/>
            <a:ext cx="6693229" cy="635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C268735-5A54-4A42-AA49-7220971F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2788741"/>
            <a:ext cx="5434373" cy="509091"/>
          </a:xfrm>
          <a:prstGeom xmlns:a="http://schemas.openxmlformats.org/drawingml/2006/main" prst="roundRect">
            <a:avLst>
              <a:gd name="adj" fmla="val 8236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623CF45-D52E-4CB6-BE79-7F1A738F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466" y="2955528"/>
            <a:ext cx="140292" cy="1754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4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5B9543A-86CB-4BB7-9577-3ADB56F8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59" y="2888555"/>
            <a:ext cx="5234750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₹25,00,000+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62CB5A7-F2E0-4DB5-ACA5-65ED8610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59" y="3076079"/>
            <a:ext cx="5234750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SENIOR MANAGEMENT</a:t>
            </a:r>
            <a:endParaRPr sz="7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F93E13-2660-48E5-92B4-F16EF36E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376910"/>
            <a:ext cx="10868745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Control Blocks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F80B4AF-DF66-4514-8296-FA139DA9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611959"/>
            <a:ext cx="5407981" cy="873919"/>
          </a:xfrm>
          <a:prstGeom xmlns:a="http://schemas.openxmlformats.org/drawingml/2006/main" prst="roundRect">
            <a:avLst>
              <a:gd name="adj" fmla="val 4798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22DEA85-D194-49EB-B29E-6473B975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36" y="3718123"/>
            <a:ext cx="299435" cy="299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be5585fab4e9b">
            <a:extLst>
              <a:ext uri="{96DAC541-7B7A-43D3-8B79-37D633B846F1}">
                <asvg:svgBlip xmlns:asvg="http://schemas.microsoft.com/office/drawing/2016/SVG/main" r:embed="R3da8a9141b4145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986" y="3800376"/>
            <a:ext cx="134736" cy="134739"/>
          </a:xfrm>
          <a:prstGeom xmlns:a="http://schemas.openxmlformats.org/drawingml/2006/main" prst="rect">
            <a:avLst/>
          </a:prstGeom>
        </p:spPr>
      </p:pic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809DFBF-F4F5-4DDC-AC3B-5E3B4A66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36" y="4070251"/>
            <a:ext cx="5195658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BUDGET</a:t>
            </a:r>
            <a:endParaRPr sz="9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7D7901A-1F16-4D95-885F-AC5251BF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36" y="4257774"/>
            <a:ext cx="5195658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Maximum spend</a:t>
            </a:r>
            <a:endParaRPr sz="7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B9FCFA1-F962-434E-A9FB-D940E72A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140" y="3611959"/>
            <a:ext cx="5408080" cy="873919"/>
          </a:xfrm>
          <a:prstGeom xmlns:a="http://schemas.openxmlformats.org/drawingml/2006/main" prst="roundRect">
            <a:avLst>
              <a:gd name="adj" fmla="val 4798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8F8E5579-4DEC-4C35-B3A3-42D3C584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301" y="3718123"/>
            <a:ext cx="299435" cy="299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8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4ec60942d4cb2">
            <a:extLst>
              <a:ext uri="{96DAC541-7B7A-43D3-8B79-37D633B846F1}">
                <asvg:svgBlip xmlns:asvg="http://schemas.microsoft.com/office/drawing/2016/SVG/main" r:embed="R53344151404448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0651" y="3800376"/>
            <a:ext cx="134736" cy="134739"/>
          </a:xfrm>
          <a:prstGeom xmlns:a="http://schemas.openxmlformats.org/drawingml/2006/main" prst="rect">
            <a:avLst/>
          </a:prstGeom>
        </p:spPr>
      </p:pic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90E22CE-B8B6-49A6-AC67-B4D9323C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301" y="4070251"/>
            <a:ext cx="5195758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SUPPLIER</a:t>
            </a:r>
            <a:endParaRPr sz="95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A14E45F-FA30-463D-8A20-72A0D09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301" y="4257774"/>
            <a:ext cx="5195758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Approved vendors / rating</a:t>
            </a:r>
            <a:endParaRPr sz="7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24819596-ADE3-4432-B368-69669C9C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4538563"/>
            <a:ext cx="5407981" cy="873919"/>
          </a:xfrm>
          <a:prstGeom xmlns:a="http://schemas.openxmlformats.org/drawingml/2006/main" prst="roundRect">
            <a:avLst>
              <a:gd name="adj" fmla="val 4798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3607E0F6-BF31-481A-B27A-34E5925F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36" y="4644727"/>
            <a:ext cx="299435" cy="299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80cb7d8c045a3">
            <a:extLst>
              <a:ext uri="{96DAC541-7B7A-43D3-8B79-37D633B846F1}">
                <asvg:svgBlip xmlns:asvg="http://schemas.microsoft.com/office/drawing/2016/SVG/main" r:embed="Rcc4fad7b1e8f4a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986" y="4726980"/>
            <a:ext cx="134736" cy="134739"/>
          </a:xfrm>
          <a:prstGeom xmlns:a="http://schemas.openxmlformats.org/drawingml/2006/main" prst="rect">
            <a:avLst/>
          </a:prstGeom>
        </p:spPr>
      </p:pic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282A7211-7233-4CFE-99C0-20BA37B5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36" y="4996855"/>
            <a:ext cx="5195658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NEGOTIATION</a:t>
            </a:r>
            <a:endParaRPr sz="950"/>
          </a:p>
        </p:txBody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7E3A5BFC-A0D4-4ECF-B10B-5E1EDDB7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36" y="5184378"/>
            <a:ext cx="5195658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Maximum rounds / limits</a:t>
            </a:r>
            <a:endParaRPr sz="750"/>
          </a:p>
        </p:txBody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99F33195-48F3-42DC-B3EF-15B88E8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140" y="4538563"/>
            <a:ext cx="5408080" cy="873919"/>
          </a:xfrm>
          <a:prstGeom xmlns:a="http://schemas.openxmlformats.org/drawingml/2006/main" prst="roundRect">
            <a:avLst>
              <a:gd name="adj" fmla="val 4798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E6BB51BD-8770-4E69-94E6-A021D848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301" y="4644727"/>
            <a:ext cx="299435" cy="299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pic>
        <p:nvPicPr>
          <p:cNvPr id="9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27d6103674f65">
            <a:extLst>
              <a:ext uri="{96DAC541-7B7A-43D3-8B79-37D633B846F1}">
                <asvg:svgBlip xmlns:asvg="http://schemas.microsoft.com/office/drawing/2016/SVG/main" r:embed="Rbbce9eda5a8249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0651" y="4726980"/>
            <a:ext cx="134736" cy="134739"/>
          </a:xfrm>
          <a:prstGeom xmlns:a="http://schemas.openxmlformats.org/drawingml/2006/main" prst="rect">
            <a:avLst/>
          </a:prstGeom>
        </p:spPr>
      </p:pic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F672A3ED-23C4-4588-9ADD-8188EE0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301" y="4996855"/>
            <a:ext cx="5195758" cy="1559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 b="1" spc="-29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AUDIT</a:t>
            </a:r>
            <a:endParaRPr sz="950"/>
          </a:p>
        </p:txBody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23DCAA78-B9E7-491F-86E8-DF61B8A2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301" y="5184378"/>
            <a:ext cx="5195758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Every material action logged</a:t>
            </a:r>
            <a:endParaRPr sz="750"/>
          </a:p>
        </p:txBody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57C68541-F9D2-4489-AF1A-F71BE500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192" y="5530949"/>
            <a:ext cx="11328613" cy="12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"AI decides within rules. Humans control exceptions."</a:t>
            </a:r>
            <a:endParaRPr sz="750"/>
          </a:p>
        </p:txBody>
      </p:sp>
      <p:sp>
        <p:nvSpPr>
          <p:cNvPr id="45" name="Shape 39">
            <a:extLst xmlns:a="http://schemas.openxmlformats.org/drawingml/2006/main">
              <a:ext uri="{FF2B5EF4-FFF2-40B4-BE49-F238E27FC236}">
                <a16:creationId xmlns:a16="http://schemas.microsoft.com/office/drawing/2014/main" id="{B6F06C9A-C3A1-47F6-9E22-2EF5A201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471716"/>
            <a:ext cx="12700" cy="240407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4950BC"/>
          </a:solidFill>
        </p:spPr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E7039E17-A7DC-456D-8275-8169E605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5771356"/>
            <a:ext cx="10868745" cy="5428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39930" rIns="0" bIns="0" anchor="t">
            <a:normAutofit/>
          </a:bodyPr>
          <a:lstStyle xmlns:a="http://schemas.openxmlformats.org/drawingml/2006/main"/>
          <a:p xmlns:a="http://schemas.openxmlformats.org/drawingml/2006/main"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Role-based access control</a:t>
            </a:r>
            <a:endParaRPr sz="750"/>
          </a:p>
          <a:p xmlns:a="http://schemas.openxmlformats.org/drawingml/2006/main"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Policy validation</a:t>
            </a:r>
            <a:endParaRPr sz="750"/>
          </a:p>
          <a:p xmlns:a="http://schemas.openxmlformats.org/drawingml/2006/main"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Approval workflows</a:t>
            </a:r>
            <a:endParaRPr sz="750"/>
          </a:p>
          <a:p xmlns:a="http://schemas.openxmlformats.org/drawingml/2006/main"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sz="750" spc="-16">
                <a:solidFill>
                  <a:srgbClr val="272525"/>
                </a:solidFill>
                <a:latin typeface="Inter"/>
                <a:ea typeface="Inter"/>
                <a:cs typeface="Inter"/>
              </a:rPr>
              <a:t>Complete audit trail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7530325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A5A34D-8B93-40D1-AEF3-7A9EFDE7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659011"/>
            <a:ext cx="10868745" cy="5316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3300" b="1" spc="-10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Technology Stack &amp; Phase-1 Prototype</a:t>
            </a:r>
            <a:endParaRPr sz="33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6EB0BAE-2C1D-446F-B3CD-E58481F9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3600252"/>
            <a:ext cx="10868745" cy="1905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EAF090-1E72-43CB-B1C5-888DCBDB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645" y="3089970"/>
            <a:ext cx="19050" cy="510282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940F933-B094-490C-8D29-6CAF5715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423" y="3536504"/>
            <a:ext cx="127493" cy="127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B643AF0-3FA2-4291-B63D-0B69A8E1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5" y="1496814"/>
            <a:ext cx="3495389" cy="1593155"/>
          </a:xfrm>
          <a:prstGeom xmlns:a="http://schemas.openxmlformats.org/drawingml/2006/main" prst="roundRect">
            <a:avLst>
              <a:gd name="adj" fmla="val 4485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60131B3-4652-44A6-B89D-B70CAECA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81" y="1673225"/>
            <a:ext cx="3142576" cy="265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65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FRONTEND</a:t>
            </a:r>
            <a:endParaRPr sz="16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C5F835C-CECA-4A4F-9CE7-8EB23DAE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81" y="2030710"/>
            <a:ext cx="3142576" cy="882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68047" rIns="0" bIns="0" anchor="t">
            <a:normAutofit/>
          </a:bodyPr>
          <a:lstStyle xmlns:a="http://schemas.openxmlformats.org/drawingml/2006/main"/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Next.js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TypeScript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Tailwind / shadcn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1076982-8D1F-4490-AE4E-C8282BFD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984" y="3600252"/>
            <a:ext cx="19050" cy="510282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E0CDF82-DC88-47CE-A515-9DA9E10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762" y="3536504"/>
            <a:ext cx="127493" cy="127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2E33C6-6DB8-4B3A-A889-1F3EB84B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814" y="4110534"/>
            <a:ext cx="3495389" cy="1593155"/>
          </a:xfrm>
          <a:prstGeom xmlns:a="http://schemas.openxmlformats.org/drawingml/2006/main" prst="roundRect">
            <a:avLst>
              <a:gd name="adj" fmla="val 4485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A623CD3-0F48-4480-8F69-79FAD741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20" y="4286945"/>
            <a:ext cx="3142576" cy="265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65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BACKEND</a:t>
            </a:r>
            <a:endParaRPr sz="16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3846798-5AFE-45C7-AE73-86315A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20" y="4644430"/>
            <a:ext cx="3142576" cy="882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68047" rIns="0" bIns="0" anchor="t">
            <a:normAutofit/>
          </a:bodyPr>
          <a:lstStyle xmlns:a="http://schemas.openxmlformats.org/drawingml/2006/main"/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Python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FastAPI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REST APIs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EFEC261-8B9B-478D-B528-55046869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323" y="3089970"/>
            <a:ext cx="19050" cy="510282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EDA4D8D-9C23-442B-8CD4-D0F6C076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01" y="3536504"/>
            <a:ext cx="127493" cy="127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EE5E81D-4C21-4BF0-ACD2-9F938D3C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153" y="1496814"/>
            <a:ext cx="3495389" cy="1593155"/>
          </a:xfrm>
          <a:prstGeom xmlns:a="http://schemas.openxmlformats.org/drawingml/2006/main" prst="roundRect">
            <a:avLst>
              <a:gd name="adj" fmla="val 4485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20453CC-4059-432B-86AF-D7536171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559" y="1673225"/>
            <a:ext cx="3142576" cy="265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65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AI</a:t>
            </a:r>
            <a:endParaRPr sz="16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93E2D37-8A27-4D11-B295-7CC7D5AA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559" y="2030710"/>
            <a:ext cx="3142576" cy="882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68047" rIns="0" bIns="0" anchor="t">
            <a:normAutofit/>
          </a:bodyPr>
          <a:lstStyle xmlns:a="http://schemas.openxmlformats.org/drawingml/2006/main"/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LLM API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LangGraph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Structured tool calling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2DF006D-470C-410F-B15E-202A92C4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662" y="3600252"/>
            <a:ext cx="19050" cy="510282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E53BB7-4FD4-4A7F-8CF9-11940631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440" y="3536504"/>
            <a:ext cx="127493" cy="127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FD3BFC3-51D9-4A2D-BEBC-384F19A0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492" y="4110534"/>
            <a:ext cx="3495389" cy="1593155"/>
          </a:xfrm>
          <a:prstGeom xmlns:a="http://schemas.openxmlformats.org/drawingml/2006/main" prst="roundRect">
            <a:avLst>
              <a:gd name="adj" fmla="val 4485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03A82F-2F6F-435D-AF6C-4B55E513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899" y="4286945"/>
            <a:ext cx="3142576" cy="265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65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DATA</a:t>
            </a:r>
            <a:endParaRPr sz="16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B5B3BDD-A8D6-4C8B-ACC7-F4F2D0E5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899" y="4644430"/>
            <a:ext cx="3142576" cy="882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68047" rIns="0" bIns="0" anchor="t">
            <a:normAutofit/>
          </a:bodyPr>
          <a:lstStyle xmlns:a="http://schemas.openxmlformats.org/drawingml/2006/main"/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PostgreSQL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pgvector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Redis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AF52023-684F-4E29-94CA-2D1156C1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001" y="3089970"/>
            <a:ext cx="19050" cy="510282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C0C1D7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E89449B-5F3C-4780-8A8F-B4AEF2CE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779" y="3536504"/>
            <a:ext cx="127493" cy="127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50BC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BD5AA1-6FCC-450F-BF81-724B7543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831" y="1496814"/>
            <a:ext cx="3495389" cy="1593155"/>
          </a:xfrm>
          <a:prstGeom xmlns:a="http://schemas.openxmlformats.org/drawingml/2006/main" prst="roundRect">
            <a:avLst>
              <a:gd name="adj" fmla="val 4485"/>
            </a:avLst>
          </a:prstGeom>
          <a:solidFill xmlns:a="http://schemas.openxmlformats.org/drawingml/2006/main">
            <a:srgbClr val="DADBF1"/>
          </a:solidFill>
          <a:ln xmlns:a="http://schemas.openxmlformats.org/drawingml/2006/main" w="6350">
            <a:solidFill>
              <a:srgbClr val="C0C1D7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DD85248-0926-49C2-B073-9EAD2B12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238" y="1673225"/>
            <a:ext cx="3142576" cy="265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650" b="1" spc="-5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INTEGRATION</a:t>
            </a:r>
            <a:endParaRPr sz="16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4BC7E29-D0C4-48CE-8128-7AA3CE0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238" y="2030710"/>
            <a:ext cx="3142576" cy="882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68047" rIns="0" bIns="0" anchor="t">
            <a:normAutofit/>
          </a:bodyPr>
          <a:lstStyle xmlns:a="http://schemas.openxmlformats.org/drawingml/2006/main"/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Beckn Adapter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ONDC / Beckn Sandbox</a:t>
            </a:r>
            <a:endParaRPr sz="1300"/>
          </a:p>
          <a:p xmlns:a="http://schemas.openxmlformats.org/drawingml/2006/main"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sz="1300" spc="-27">
                <a:solidFill>
                  <a:srgbClr val="272525"/>
                </a:solidFill>
                <a:latin typeface="Inter"/>
                <a:ea typeface="Inter"/>
                <a:cs typeface="Inter"/>
              </a:rPr>
              <a:t>Mock BPPs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43777655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42C50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5623560" y="2999232"/>
            <a:ext cx="960120" cy="41148"/>
          </a:xfrm>
          <a:prstGeom prst="rect">
            <a:avLst/>
          </a:prstGeom>
          <a:solidFill>
            <a:srgbClr val="1E8C55"/>
          </a:solidFill>
          <a:ln>
            <a:solidFill>
              <a:srgbClr val="1E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310128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E8C55"/>
                </a:solidFill>
                <a:latin typeface="Aptos"/>
              </a:defRPr>
            </a:pPr>
            <a:r>
              <a:t>PROCURA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22191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9737D"/>
                </a:solidFill>
                <a:latin typeface="Aptos"/>
              </a:defRPr>
            </a:pPr>
            <a:r>
              <a:t>Questions &amp;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44768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69737D"/>
                </a:solidFill>
                <a:latin typeface="Aptos"/>
              </a:defRPr>
            </a:pPr>
            <a:r>
              <a:t>TEAM AI1  •  CSE  •  INFOSYS REVIEW –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2026-08-28T04:16:48.8280000Z</dcterms:created>
  <dcterms:modified xsi:type="dcterms:W3CDTF">2026-08-28T04:16:48.8280000Z</dcterms:modified>
</coreProperties>
</file>